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ln/>
          </c:spPr>
          <c:dPt>
            <c:idx val="0"/>
            <c:bubble3D val="0"/>
            <c:spPr>
              <a:solidFill>
                <a:srgbClr val="EC5B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A4E-4C0D-8136-3D2F7F47495B}"/>
              </c:ext>
            </c:extLst>
          </c:dPt>
          <c:dPt>
            <c:idx val="1"/>
            <c:bubble3D val="0"/>
            <c:spPr>
              <a:solidFill>
                <a:srgbClr val="DAE2D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4E-4C0D-8136-3D2F7F47495B}"/>
              </c:ext>
            </c:extLst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Remainder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2471</c:v>
                </c:pt>
                <c:pt idx="1">
                  <c:v>47499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4E-4C0D-8136-3D2F7F474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ln/>
          </c:spPr>
          <c:dPt>
            <c:idx val="0"/>
            <c:bubble3D val="0"/>
            <c:spPr>
              <a:solidFill>
                <a:srgbClr val="6D28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FEA-45EC-8CAC-8263BB320C84}"/>
              </c:ext>
            </c:extLst>
          </c:dPt>
          <c:dPt>
            <c:idx val="1"/>
            <c:bubble3D val="0"/>
            <c:spPr>
              <a:solidFill>
                <a:srgbClr val="DAE2D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FEA-45EC-8CAC-8263BB320C84}"/>
              </c:ext>
            </c:extLst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Remainder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1942085.75</c:v>
                </c:pt>
                <c:pt idx="1">
                  <c:v>1544820.85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EA-45EC-8CAC-8263BB320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ln/>
          </c:spPr>
          <c:dPt>
            <c:idx val="0"/>
            <c:bubble3D val="0"/>
            <c:spPr>
              <a:solidFill>
                <a:srgbClr val="6D28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689-47AF-8F9B-74D750A8690C}"/>
              </c:ext>
            </c:extLst>
          </c:dPt>
          <c:dPt>
            <c:idx val="1"/>
            <c:bubble3D val="0"/>
            <c:spPr>
              <a:solidFill>
                <a:srgbClr val="DAE2D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689-47AF-8F9B-74D750A8690C}"/>
              </c:ext>
            </c:extLst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Remainder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337203.75</c:v>
                </c:pt>
                <c:pt idx="1">
                  <c:v>3149702.85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89-47AF-8F9B-74D750A869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6D28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C9D-452C-AC9B-9D5E5EF2926C}"/>
              </c:ext>
            </c:extLst>
          </c:dPt>
          <c:dLbls>
            <c:numFmt formatCode="\R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523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Headphones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337203.75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9D-452C-AC9B-9D5E5EF292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100040200"/>
        <c:axId val="100040201"/>
      </c:barChart>
      <c:catAx>
        <c:axId val="10004020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>
              <a:defRPr sz="1100">
                <a:solidFill>
                  <a:srgbClr val="202523"/>
                </a:solidFill>
                <a:latin typeface="Aptos"/>
              </a:defRPr>
            </a:pPr>
            <a:endParaRPr lang="en-US"/>
          </a:p>
        </c:txPr>
        <c:crossAx val="100040201"/>
        <c:crosses val="autoZero"/>
        <c:auto val="1"/>
        <c:lblAlgn val="ctr"/>
        <c:lblOffset val="100"/>
        <c:noMultiLvlLbl val="0"/>
      </c:catAx>
      <c:valAx>
        <c:axId val="100040201"/>
        <c:scaling>
          <c:orientation val="minMax"/>
          <c:max val="40000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/>
            </a:pPr>
            <a:endParaRPr lang="en-US"/>
          </a:p>
        </c:txPr>
        <c:crossAx val="10004020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ln/>
          </c:spPr>
          <c:invertIfNegative val="1"/>
          <c:dPt>
            <c:idx val="0"/>
            <c:invertIfNegative val="1"/>
            <c:bubble3D val="0"/>
            <c:spPr>
              <a:solidFill>
                <a:srgbClr val="6D28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3E3-4FAE-AFD6-5E47B75349FE}"/>
              </c:ext>
            </c:extLst>
          </c:dPt>
          <c:dPt>
            <c:idx val="1"/>
            <c:invertIfNegative val="1"/>
            <c:bubble3D val="0"/>
            <c:spPr>
              <a:solidFill>
                <a:srgbClr val="DAE2D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3E3-4FAE-AFD6-5E47B75349FE}"/>
              </c:ext>
            </c:extLst>
          </c:dPt>
          <c:dLbls>
            <c:numFmt formatCode="\R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02523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Regular</c:v>
                </c:pt>
                <c:pt idx="1">
                  <c:v>Other segments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1942085.75</c:v>
                </c:pt>
                <c:pt idx="1">
                  <c:v>1544820.85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E3-4FAE-AFD6-5E47B7534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100050100"/>
        <c:axId val="100050101"/>
      </c:barChart>
      <c:catAx>
        <c:axId val="100050100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/>
        </c:spPr>
        <c:txPr>
          <a:bodyPr/>
          <a:lstStyle/>
          <a:p>
            <a:pPr>
              <a:defRPr sz="1100">
                <a:solidFill>
                  <a:srgbClr val="202523"/>
                </a:solidFill>
                <a:latin typeface="Aptos"/>
              </a:defRPr>
            </a:pPr>
            <a:endParaRPr lang="en-US"/>
          </a:p>
        </c:txPr>
        <c:crossAx val="100050101"/>
        <c:crosses val="autoZero"/>
        <c:auto val="1"/>
        <c:lblAlgn val="ctr"/>
        <c:lblOffset val="100"/>
        <c:noMultiLvlLbl val="0"/>
      </c:catAx>
      <c:valAx>
        <c:axId val="100050101"/>
        <c:scaling>
          <c:orientation val="minMax"/>
          <c:max val="220000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/>
            </a:pPr>
            <a:endParaRPr lang="en-US"/>
          </a:p>
        </c:txPr>
        <c:crossAx val="10005010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ln/>
          </c:spPr>
          <c:dPt>
            <c:idx val="0"/>
            <c:bubble3D val="0"/>
            <c:spPr>
              <a:solidFill>
                <a:srgbClr val="EC5B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41B-4F62-B5F9-B275C27346DA}"/>
              </c:ext>
            </c:extLst>
          </c:dPt>
          <c:dPt>
            <c:idx val="1"/>
            <c:bubble3D val="0"/>
            <c:spPr>
              <a:solidFill>
                <a:srgbClr val="DAE2D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41B-4F62-B5F9-B275C27346DA}"/>
              </c:ext>
            </c:extLst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Remainder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2471</c:v>
                </c:pt>
                <c:pt idx="1">
                  <c:v>47499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1B-4F62-B5F9-B275C2734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19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93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5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3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25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4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53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2358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997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445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63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6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48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74419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44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342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10/1/2026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87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9926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056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9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84411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1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6997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27580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107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962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919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532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48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8848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02843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28431" y="0"/>
            <a:ext cx="4163263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3291840" cy="2154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400" b="1" dirty="0">
                <a:solidFill>
                  <a:srgbClr val="6D28D9"/>
                </a:solidFill>
                <a:latin typeface="Aptos"/>
              </a:rPr>
              <a:t>SHOP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202523"/>
                </a:solidFill>
                <a:latin typeface="Aptos Display"/>
              </a:rPr>
              <a:t>Shop Performance</a:t>
            </a:r>
            <a:br>
              <a:rPr dirty="0"/>
            </a:br>
            <a:r>
              <a:rPr dirty="0"/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871216"/>
            <a:ext cx="6355080" cy="5943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65716C"/>
                </a:solidFill>
                <a:latin typeface="Aptos"/>
              </a:rPr>
              <a:t>Revenue, customers, products and operational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3749039"/>
            <a:ext cx="1234440" cy="640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4169663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Analysis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4988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523"/>
                </a:solidFill>
                <a:latin typeface="Aptos Display"/>
              </a:rPr>
              <a:t>2024 –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053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5716C"/>
                </a:solidFill>
                <a:latin typeface="Aptos"/>
              </a:rPr>
              <a:t>Prepared from the cleaned shop-performance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325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FFF"/>
                </a:solidFill>
                <a:latin typeface="Aptos Display"/>
              </a:rPr>
              <a:t>R3.49M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38528"/>
            <a:ext cx="201168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EDE9FE"/>
                </a:solidFill>
                <a:latin typeface="Aptos"/>
              </a:rPr>
              <a:t>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450592"/>
            <a:ext cx="2697480" cy="1371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707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FFF"/>
                </a:solidFill>
                <a:latin typeface="Aptos Display"/>
              </a:rPr>
              <a:t>49,970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47288"/>
            <a:ext cx="201168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EDE9FE"/>
                </a:solidFill>
                <a:latin typeface="Aptos"/>
              </a:rPr>
              <a:t>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959352"/>
            <a:ext cx="2697480" cy="13716"/>
          </a:xfrm>
          <a:prstGeom prst="rect">
            <a:avLst/>
          </a:prstGeom>
          <a:solidFill>
            <a:srgbClr val="8B7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77072" y="435254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dirty="0">
                <a:solidFill>
                  <a:srgbClr val="FFFFFF"/>
                </a:solidFill>
                <a:latin typeface="Aptos Display"/>
              </a:rPr>
              <a:t>R69.78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965192"/>
            <a:ext cx="256032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EDE9FE"/>
                </a:solidFill>
                <a:latin typeface="Aptos"/>
              </a:rPr>
              <a:t>AVERAGE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382512"/>
            <a:ext cx="502920" cy="13849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900" b="1">
                <a:solidFill>
                  <a:srgbClr val="EDE9FE"/>
                </a:solidFill>
                <a:latin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The business generated R3.49M across 49,970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45952" cy="11155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2834640" cy="5232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3400" b="1">
                <a:solidFill>
                  <a:srgbClr val="6D28D9"/>
                </a:solidFill>
                <a:latin typeface="Aptos Display"/>
              </a:rPr>
              <a:t>R3.49M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719072"/>
            <a:ext cx="10972" cy="658368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8" y="1755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02523"/>
                </a:solidFill>
                <a:latin typeface="Aptos Display"/>
              </a:rPr>
              <a:t>49,970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719072"/>
            <a:ext cx="10972" cy="658368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17536" y="1755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02523"/>
                </a:solidFill>
                <a:latin typeface="Aptos Display"/>
              </a:rPr>
              <a:t>R69.78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Average order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90088"/>
            <a:ext cx="246888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CANCELLED ORDERS</a:t>
            </a:r>
          </a:p>
        </p:txBody>
      </p:sp>
      <p:graphicFrame>
        <p:nvGraphicFramePr>
          <p:cNvPr id="17" name="Chart 16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604199"/>
              </p:ext>
            </p:extLst>
          </p:nvPr>
        </p:nvGraphicFramePr>
        <p:xfrm>
          <a:off x="603504" y="3218688"/>
          <a:ext cx="2331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69848" y="39136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523"/>
                </a:solidFill>
                <a:latin typeface="Aptos Display"/>
              </a:rPr>
              <a:t>4.94%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22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5716C"/>
                </a:solidFill>
                <a:latin typeface="Aptos"/>
              </a:rPr>
              <a:t>2,471 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22191" y="3017520"/>
            <a:ext cx="10972" cy="2651760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3087" y="2990088"/>
            <a:ext cx="29718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REGULAR-CUSTOMER REVENUE</a:t>
            </a:r>
          </a:p>
        </p:txBody>
      </p:sp>
      <p:graphicFrame>
        <p:nvGraphicFramePr>
          <p:cNvPr id="22" name="Chart 21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705956"/>
              </p:ext>
            </p:extLst>
          </p:nvPr>
        </p:nvGraphicFramePr>
        <p:xfrm>
          <a:off x="4224528" y="3218688"/>
          <a:ext cx="23317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681728" y="39136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523"/>
                </a:solidFill>
                <a:latin typeface="Aptos Display"/>
              </a:rPr>
              <a:t>55.7%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422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5716C"/>
                </a:solidFill>
                <a:latin typeface="Aptos"/>
              </a:rPr>
              <a:t>R1.94M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017520"/>
            <a:ext cx="10972" cy="2651760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54112" y="2990088"/>
            <a:ext cx="22860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FAILED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4198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C5B48"/>
                </a:solidFill>
                <a:latin typeface="Aptos Display"/>
              </a:rPr>
              <a:t>1,926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records marked 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5354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16C"/>
                </a:solidFill>
                <a:latin typeface="Aptos"/>
              </a:rPr>
              <a:t>3.85% of total orders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5001768"/>
            <a:ext cx="3063240" cy="54864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0" y="5212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Use PaymentStatus as source of truth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Trace: supplied analysis metrics; derived shares use R3,486,906.60 implied revenue.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REVENUE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Revenue was stable until February 2026—then the pattern broke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27632"/>
            <a:ext cx="256032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PERFORMANCE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154680"/>
            <a:ext cx="9893808" cy="3200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4440" y="2907792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867912"/>
            <a:ext cx="1389888" cy="18466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ZA" sz="1200" b="1">
                <a:solidFill>
                  <a:srgbClr val="6D28D9"/>
                </a:solidFill>
                <a:latin typeface="Aptos"/>
              </a:rPr>
              <a:t>Stable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2907792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5478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867912"/>
            <a:ext cx="1389888" cy="18466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ZA" sz="1200" b="1">
                <a:solidFill>
                  <a:srgbClr val="6D28D9"/>
                </a:solidFill>
                <a:latin typeface="Aptos"/>
              </a:rPr>
              <a:t>Stable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2907792"/>
            <a:ext cx="502920" cy="502920"/>
          </a:xfrm>
          <a:prstGeom prst="ellipse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5478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FEB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3867912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C5B48"/>
                </a:solidFill>
                <a:latin typeface="Aptos"/>
              </a:rPr>
              <a:t>Decline begins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85248" y="2267712"/>
            <a:ext cx="54864" cy="1764792"/>
          </a:xfrm>
          <a:prstGeom prst="rect">
            <a:avLst/>
          </a:prstGeom>
          <a:solidFill>
            <a:srgbClr val="E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2633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C5B48"/>
                </a:solidFill>
                <a:latin typeface="Aptos Display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523"/>
                </a:solidFill>
                <a:latin typeface="Aptos Display"/>
              </a:rPr>
              <a:t>The turning point is the 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5780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5716C"/>
                </a:solidFill>
                <a:latin typeface="Aptos"/>
              </a:rPr>
              <a:t>Focus the next review on what changed from February 2026: demand, stock availability and channel mix.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4681728"/>
            <a:ext cx="3108960" cy="1078992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882896"/>
            <a:ext cx="265176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NEXT DASHBOARD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23036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Insert the verified monthly revenue series from the cleaned file.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Source: supplied trend finding. Monthly values remain pending rather than estimated.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PRODUCT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4616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Headphones lead revenue; volume </a:t>
            </a:r>
            <a:r>
              <a:rPr lang="en-ZA" sz="3000" b="1">
                <a:solidFill>
                  <a:srgbClr val="202523"/>
                </a:solidFill>
                <a:latin typeface="Aptos Display"/>
              </a:rPr>
              <a:t>leader</a:t>
            </a:r>
            <a:r>
              <a:rPr sz="3000" b="1">
                <a:solidFill>
                  <a:srgbClr val="202523"/>
                </a:solidFill>
                <a:latin typeface="Aptos Display"/>
              </a:rPr>
              <a:t> still needs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27432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HEADPHONES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3749039" cy="58521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02523"/>
                </a:solidFill>
                <a:latin typeface="Aptos Display"/>
              </a:rPr>
              <a:t>R337,203.75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5716C"/>
                </a:solidFill>
                <a:latin typeface="Aptos"/>
              </a:rPr>
              <a:t>9.7% of implied total revenue</a:t>
            </a:r>
          </a:p>
        </p:txBody>
      </p:sp>
      <p:graphicFrame>
        <p:nvGraphicFramePr>
          <p:cNvPr id="10" name="Chart 9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902571"/>
              </p:ext>
            </p:extLst>
          </p:nvPr>
        </p:nvGraphicFramePr>
        <p:xfrm>
          <a:off x="685800" y="2999232"/>
          <a:ext cx="2999232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44752" y="3904487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2523"/>
                </a:solidFill>
                <a:latin typeface="Aptos Display"/>
              </a:rPr>
              <a:t>9.7%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627632"/>
            <a:ext cx="10972" cy="4041648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591056"/>
            <a:ext cx="18288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VALUE VIEW</a:t>
            </a:r>
          </a:p>
        </p:txBody>
      </p:sp>
      <p:graphicFrame>
        <p:nvGraphicFramePr>
          <p:cNvPr id="14" name="Chart 13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98773"/>
              </p:ext>
            </p:extLst>
          </p:nvPr>
        </p:nvGraphicFramePr>
        <p:xfrm>
          <a:off x="4407408" y="1874519"/>
          <a:ext cx="6812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17136" y="4480560"/>
            <a:ext cx="18288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VOLUME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800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523"/>
                </a:solidFill>
                <a:latin typeface="Aptos"/>
              </a:rPr>
              <a:t>Top-units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73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C5B48"/>
                </a:solidFill>
                <a:latin typeface="Aptos Display"/>
              </a:rPr>
              <a:t>Pending cleaned-file 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53218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5716C"/>
                </a:solidFill>
                <a:latin typeface="Aptos"/>
              </a:rPr>
              <a:t>Use revenue and units together when deciding assortment, stock and promotions.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Trace: ProductName = Headphones → SUM(Revenue) = R337,203.75.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CUSTOMER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Regular customers provide the majority of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91056"/>
            <a:ext cx="256032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REVENUE BY SEGMENT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514989"/>
              </p:ext>
            </p:extLst>
          </p:nvPr>
        </p:nvGraphicFramePr>
        <p:xfrm>
          <a:off x="640080" y="1901952"/>
          <a:ext cx="6693408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212080"/>
            <a:ext cx="1280160" cy="46166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3000" b="1">
                <a:solidFill>
                  <a:srgbClr val="6D28D9"/>
                </a:solidFill>
                <a:latin typeface="Aptos Display"/>
              </a:rPr>
              <a:t>55.7%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5285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16C"/>
                </a:solidFill>
                <a:latin typeface="Aptos"/>
              </a:rPr>
              <a:t>of implied revenue comes from Regular customers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71231" y="1627632"/>
            <a:ext cx="10972" cy="4087368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1591056"/>
            <a:ext cx="237744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LEADING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02523"/>
                </a:solidFill>
                <a:latin typeface="Aptos Display"/>
              </a:rPr>
              <a:t>TEHRAN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7848" y="2724912"/>
            <a:ext cx="306324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2999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2523"/>
                </a:solidFill>
                <a:latin typeface="Aptos"/>
              </a:rPr>
              <a:t>Strongest city contributor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56432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5716C"/>
                </a:solidFill>
                <a:latin typeface="Aptos"/>
              </a:rPr>
              <a:t>Quantify the city share from the cleaned working file before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681728"/>
            <a:ext cx="237744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CUSTOMER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109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Retain Regulars; test growth in underpenetrated cities.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Trace: CustomerSegment = Regular → SUM(Revenue) = R1,942,085.75.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ORDERS &amp; PAYMENT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Cancellations and failed payments expose recoverable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219456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ORDER STATUS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557333"/>
              </p:ext>
            </p:extLst>
          </p:nvPr>
        </p:nvGraphicFramePr>
        <p:xfrm>
          <a:off x="658368" y="1856231"/>
          <a:ext cx="3310128" cy="303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36192" y="29169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4.94%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9011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C5B48"/>
                </a:solidFill>
                <a:latin typeface="Aptos"/>
              </a:rPr>
              <a:t>2,471 cancelled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2303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5716C"/>
                </a:solidFill>
                <a:latin typeface="Aptos"/>
              </a:rPr>
              <a:t>of 49,970 total orders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627632"/>
            <a:ext cx="10972" cy="409651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219456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PAYMENT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93392"/>
            <a:ext cx="3063240" cy="66751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C5B48"/>
                </a:solidFill>
                <a:latin typeface="Aptos Display"/>
              </a:rPr>
              <a:t>1,926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70662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failed-payment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1089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16C"/>
                </a:solidFill>
                <a:latin typeface="Aptos"/>
              </a:rPr>
              <a:t>3.85% of total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3721608"/>
            <a:ext cx="2944368" cy="106984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3931920"/>
            <a:ext cx="233172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RECONCILIATION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C5B48"/>
                </a:solidFill>
                <a:latin typeface="Aptos"/>
              </a:rPr>
              <a:t>0 failed </a:t>
            </a:r>
            <a:r>
              <a:rPr sz="1700" b="1">
                <a:solidFill>
                  <a:srgbClr val="202523"/>
                </a:solidFill>
                <a:latin typeface="Aptos"/>
              </a:rPr>
              <a:t>was incorrect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45902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716C"/>
                </a:solidFill>
                <a:latin typeface="Aptos"/>
              </a:rPr>
              <a:t>Use PaymentStatus = Failed.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91272" y="1627632"/>
            <a:ext cx="10972" cy="409651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581912"/>
            <a:ext cx="283464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STATUS COMPLETENESS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66543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5716C"/>
                </a:solidFill>
                <a:latin typeface="Aptos"/>
              </a:rPr>
              <a:t>Pending refresh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487168"/>
            <a:ext cx="2834640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807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Returned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788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5716C"/>
                </a:solidFill>
                <a:latin typeface="Aptos"/>
              </a:rPr>
              <a:t>Pending refresh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227832"/>
            <a:ext cx="2834640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5478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523"/>
                </a:solidFill>
                <a:latin typeface="Aptos"/>
              </a:rPr>
              <a:t>Failed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529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C5B48"/>
                </a:solidFill>
                <a:latin typeface="Aptos"/>
              </a:rPr>
              <a:t>1,926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160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16C"/>
                </a:solidFill>
                <a:latin typeface="Aptos"/>
              </a:rPr>
              <a:t>Do not infer missing status counts from the remainder.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Trace: 2,471 ÷ 49,970 = 4.94%; PaymentStatus = Failed → 1,926 records.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36576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DISCOUNT DASHBOARD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523"/>
                </a:solidFill>
                <a:latin typeface="Aptos Display"/>
              </a:rPr>
              <a:t>Protect order value—discount depth is not lifting basket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5716C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52728"/>
            <a:ext cx="11045952" cy="10972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219456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DISCOUNT EFFECT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54668"/>
              </p:ext>
            </p:extLst>
          </p:nvPr>
        </p:nvGraphicFramePr>
        <p:xfrm>
          <a:off x="658368" y="1874519"/>
          <a:ext cx="5715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Discount</a:t>
                      </a:r>
                    </a:p>
                  </a:txBody>
                  <a:tcPr marL="73152" marR="45720" marT="36576" marB="27432" anchor="ctr"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Average order value</a:t>
                      </a:r>
                    </a:p>
                  </a:txBody>
                  <a:tcPr marL="73152" marR="45720" marT="36576" marB="27432" anchor="ctr"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Average quantity</a:t>
                      </a:r>
                    </a:p>
                  </a:txBody>
                  <a:tcPr marL="73152" marR="45720" marT="36576" marB="27432" anchor="ctr">
                    <a:solidFill>
                      <a:srgbClr val="4C1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2523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523"/>
                          </a:solidFill>
                          <a:latin typeface="Aptos"/>
                        </a:rPr>
                        <a:t>Highest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523"/>
                          </a:solidFill>
                          <a:latin typeface="Aptos"/>
                        </a:rPr>
                        <a:t>≈ Flat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2523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 marL="73152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523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marL="73152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02523"/>
                          </a:solidFill>
                          <a:latin typeface="Aptos"/>
                        </a:rPr>
                        <a:t>≈ Flat</a:t>
                      </a:r>
                    </a:p>
                  </a:txBody>
                  <a:tcPr marL="73152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C5B48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C5B48"/>
                          </a:solidFill>
                          <a:latin typeface="Aptos"/>
                        </a:rPr>
                        <a:t>Lowest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02523"/>
                          </a:solidFill>
                          <a:latin typeface="Aptos"/>
                        </a:rPr>
                        <a:t>≈ Flat</a:t>
                      </a:r>
                    </a:p>
                  </a:txBody>
                  <a:tcPr marL="73152" marR="45720" marT="36576" marB="27432" anchor="ctr">
                    <a:solidFill>
                      <a:srgbClr val="F5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773168"/>
            <a:ext cx="91440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0235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523"/>
                </a:solidFill>
                <a:latin typeface="Aptos Display"/>
              </a:rPr>
              <a:t>Use targeted offers—not blanket discounting.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84264" y="1627632"/>
            <a:ext cx="10972" cy="4160520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22592" y="1572768"/>
            <a:ext cx="2194560" cy="169277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00" b="1">
                <a:solidFill>
                  <a:srgbClr val="6D28D9"/>
                </a:solidFill>
                <a:latin typeface="Aptos"/>
              </a:rPr>
              <a:t>NEXT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938528"/>
            <a:ext cx="420624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600" b="1">
                <a:solidFill>
                  <a:srgbClr val="6D28D9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9385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Diagnose the February 2026 revenue 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4688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Revenue vs pre-Feb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834640"/>
            <a:ext cx="3401568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3099816"/>
            <a:ext cx="420624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600" b="1">
                <a:solidFill>
                  <a:srgbClr val="6D28D9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0998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Manage product mix on value and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301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716C"/>
                </a:solidFill>
                <a:latin typeface="Aptos"/>
              </a:rPr>
              <a:t>AOV + units by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995928"/>
            <a:ext cx="3401568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4261104"/>
            <a:ext cx="420624" cy="2462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60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2611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523"/>
                </a:solidFill>
                <a:latin typeface="Aptos"/>
              </a:rPr>
              <a:t>Reduce cancellations and reconcile 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7914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C5B48"/>
                </a:solidFill>
                <a:latin typeface="Aptos"/>
              </a:rPr>
              <a:t>Cancellation + failure rates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2592" y="5532120"/>
            <a:ext cx="4041648" cy="31089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5586984"/>
            <a:ext cx="3675887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Owner + date + metric for every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A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649224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5716C"/>
                </a:solidFill>
                <a:latin typeface="Aptos"/>
              </a:rPr>
              <a:t>Source: supplied discount finding. Exact band thresholds and averages remain pending.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5716C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229</TotalTime>
  <Words>482</Words>
  <Application>Microsoft Office PowerPoint</Application>
  <PresentationFormat>Widescreen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Hitekani Tredah Masingi</dc:creator>
  <cp:lastModifiedBy>Hitekani Tredah Masingi</cp:lastModifiedBy>
  <cp:revision>1</cp:revision>
  <dcterms:created xsi:type="dcterms:W3CDTF">2026-10-01T10:26:52Z</dcterms:created>
  <dcterms:modified xsi:type="dcterms:W3CDTF">2026-10-01T14:16:01Z</dcterms:modified>
</cp:coreProperties>
</file>