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331" r:id="rId5"/>
    <p:sldId id="312" r:id="rId6"/>
    <p:sldId id="311" r:id="rId7"/>
    <p:sldId id="294" r:id="rId8"/>
    <p:sldId id="328" r:id="rId9"/>
    <p:sldId id="329" r:id="rId10"/>
    <p:sldId id="330" r:id="rId11"/>
    <p:sldId id="327" r:id="rId12"/>
    <p:sldId id="31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3" autoAdjust="0"/>
  </p:normalViewPr>
  <p:slideViewPr>
    <p:cSldViewPr snapToGrid="0">
      <p:cViewPr varScale="1">
        <p:scale>
          <a:sx n="97" d="100"/>
          <a:sy n="97" d="100"/>
        </p:scale>
        <p:origin x="138" y="84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ln w="31750">
              <a:solidFill>
                <a:srgbClr val="4472C4"/>
              </a:solidFill>
            </a:ln>
          </c:spPr>
          <c:marker>
            <c:symbol val="circle"/>
            <c:size val="6"/>
            <c:spPr>
              <a:solidFill>
                <a:srgbClr val="ED7D31"/>
              </a:solidFill>
            </c:spPr>
          </c:marker>
          <c:cat>
            <c:strRef>
              <c:f>Sheet1!$A$2:$A$7</c:f>
              <c:strCache>
                <c:ptCount val="6"/>
                <c:pt idx="0">
                  <c:v>Jan 24</c:v>
                </c:pt>
                <c:pt idx="1">
                  <c:v>Jun 24</c:v>
                </c:pt>
                <c:pt idx="2">
                  <c:v>Jan 25</c:v>
                </c:pt>
                <c:pt idx="3">
                  <c:v>Jun 25</c:v>
                </c:pt>
                <c:pt idx="4">
                  <c:v>Jan 26</c:v>
                </c:pt>
                <c:pt idx="5">
                  <c:v>Jun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623-464A-9535-3C9699491A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1"/>
        <c:axPos val="l"/>
        <c:majorGridlines>
          <c:spPr>
            <a:ln>
              <a:solidFill>
                <a:srgbClr val="E6E6E6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4472C4"/>
            </a:solidFill>
            <a:ln>
              <a:solidFill>
                <a:srgbClr val="4472C4"/>
              </a:solidFill>
            </a:ln>
          </c:spPr>
          <c:invertIfNegative val="1"/>
          <c:dLbls>
            <c:numFmt formatCode="&quot;R&quot;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>
                    <a:solidFill>
                      <a:srgbClr val="141414"/>
                    </a:solidFill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Headphones</c:v>
                </c:pt>
                <c:pt idx="1">
                  <c:v>Office Chair</c:v>
                </c:pt>
                <c:pt idx="2">
                  <c:v>Tablet</c:v>
                </c:pt>
                <c:pt idx="3">
                  <c:v>Smart Watch</c:v>
                </c:pt>
                <c:pt idx="4">
                  <c:v>Microphone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337203.75</c:v>
                </c:pt>
                <c:pt idx="1">
                  <c:v>334089</c:v>
                </c:pt>
                <c:pt idx="2">
                  <c:v>296608</c:v>
                </c:pt>
                <c:pt idx="3">
                  <c:v>262224</c:v>
                </c:pt>
                <c:pt idx="4">
                  <c:v>232929.75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4472C4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E4DE-4BC9-AFDE-63135F01A24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68027336"/>
        <c:axId val="2113994440"/>
      </c:barChart>
      <c:catAx>
        <c:axId val="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380000"/>
          <c:min val="0"/>
        </c:scaling>
        <c:delete val="0"/>
        <c:axPos val="t"/>
        <c:majorGridlines>
          <c:spPr>
            <a:ln>
              <a:solidFill>
                <a:srgbClr val="E6E6E6"/>
              </a:solidFill>
            </a:ln>
          </c:spPr>
        </c:majorGridlines>
        <c:numFmt formatCode="&quot;R&quot;0,&quot;k&quot;" sourceLinked="0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invertIfNegative val="1"/>
          <c:cat>
            <c:strRef>
              <c:f>Sheet1!$A$2:$A$2</c:f>
              <c:strCache>
                <c:ptCount val="1"/>
                <c:pt idx="0">
                  <c:v>City values required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</c:numCache>
            </c:numRef>
          </c:val>
          <c:extLst>
            <c:ext xmlns:c16="http://schemas.microsoft.com/office/drawing/2014/chart" uri="{C3380CC4-5D6E-409C-BE32-E72D297353CC}">
              <c16:uniqueId val="{00000000-906D-49AC-A8BE-7E5D73C43F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</c:scaling>
        <c:delete val="1"/>
        <c:axPos val="l"/>
        <c:majorGridlines>
          <c:spPr>
            <a:ln>
              <a:solidFill>
                <a:srgbClr val="E6E6E6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crossAx val="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New</c:v>
                </c:pt>
                <c:pt idx="1">
                  <c:v>Regular</c:v>
                </c:pt>
                <c:pt idx="2">
                  <c:v>VIP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</c:numCache>
            </c:numRef>
          </c:val>
          <c:extLst>
            <c:ext xmlns:c16="http://schemas.microsoft.com/office/drawing/2014/chart" uri="{C3380CC4-5D6E-409C-BE32-E72D297353CC}">
              <c16:uniqueId val="{00000000-28EE-40F9-B3B1-FD2FCEE390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</c:scaling>
        <c:delete val="1"/>
        <c:axPos val="l"/>
        <c:majorGridlines>
          <c:spPr>
            <a:ln>
              <a:solidFill>
                <a:srgbClr val="E6E6E6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crossAx val="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6406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974404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D61BFD1-C421-442F-ACC0-868D35B02015}"/>
              </a:ext>
            </a:extLst>
          </p:cNvPr>
          <p:cNvSpPr/>
          <p:nvPr userDrawn="1"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89B16BC3-CBF9-4BF0-A37A-9F2BB89BED54}"/>
              </a:ext>
            </a:extLst>
          </p:cNvPr>
          <p:cNvSpPr/>
          <p:nvPr userDrawn="1"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80EA9ECE-F57C-4B25-AD19-4F78933A61EC}"/>
              </a:ext>
            </a:extLst>
          </p:cNvPr>
          <p:cNvSpPr/>
          <p:nvPr userDrawn="1"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DCBDF4EA-BFFB-460D-B9A8-45C097E920DA}"/>
              </a:ext>
            </a:extLst>
          </p:cNvPr>
          <p:cNvSpPr/>
          <p:nvPr userDrawn="1"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AB15A15E-528E-4041-8E63-65C0D0398F3A}"/>
              </a:ext>
            </a:extLst>
          </p:cNvPr>
          <p:cNvSpPr/>
          <p:nvPr userDrawn="1"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7A620BD-CFAD-4100-8C9F-494D15A0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846" y="2576760"/>
            <a:ext cx="3924935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6848" y="1899514"/>
            <a:ext cx="3924934" cy="490538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0A61465-6ECA-46DC-97DD-7BCFDB69EB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4582" y="4459105"/>
            <a:ext cx="3222836" cy="1168530"/>
          </a:xfrm>
          <a:prstGeom prst="rect">
            <a:avLst/>
          </a:prstGeom>
        </p:spPr>
        <p:txBody>
          <a:bodyPr anchor="b"/>
          <a:lstStyle>
            <a:lvl1pPr algn="r"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1487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75D96571-69F8-475F-A910-ECC1834250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Oval 2" descr="Tall office building looking up">
            <a:extLst>
              <a:ext uri="{FF2B5EF4-FFF2-40B4-BE49-F238E27FC236}">
                <a16:creationId xmlns:a16="http://schemas.microsoft.com/office/drawing/2014/main" id="{CD4C2457-AECB-4015-9FE4-CCBC516AA9EE}"/>
              </a:ext>
            </a:extLst>
          </p:cNvPr>
          <p:cNvSpPr/>
          <p:nvPr userDrawn="1"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9A018F-D11C-4B07-9830-8336B27A18AD}"/>
              </a:ext>
            </a:extLst>
          </p:cNvPr>
          <p:cNvSpPr/>
          <p:nvPr userDrawn="1"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209A32-FE17-4457-B02B-0A1DB9B8ADB1}"/>
              </a:ext>
            </a:extLst>
          </p:cNvPr>
          <p:cNvSpPr/>
          <p:nvPr userDrawn="1"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85A541-0EDE-4213-AE62-4D909E8EB7F5}"/>
              </a:ext>
            </a:extLst>
          </p:cNvPr>
          <p:cNvSpPr/>
          <p:nvPr userDrawn="1"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BFD020D-881A-48D8-BDA8-55C7B95C5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927" y="4609453"/>
            <a:ext cx="3924934" cy="490538"/>
          </a:xfrm>
          <a:prstGeom prst="rect">
            <a:avLst/>
          </a:prstGeom>
        </p:spPr>
        <p:txBody>
          <a:bodyPr anchor="b"/>
          <a:lstStyle>
            <a:lvl1pPr algn="ctr">
              <a:buNone/>
              <a:defRPr lang="en-US" sz="20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687A5-0BDD-45B2-A892-542449E3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8" y="1988047"/>
            <a:ext cx="4007183" cy="2374194"/>
          </a:xfrm>
          <a:prstGeom prst="rect">
            <a:avLst/>
          </a:prstGeom>
        </p:spPr>
        <p:txBody>
          <a:bodyPr/>
          <a:lstStyle>
            <a:lvl1pPr algn="ctr">
              <a:spcBef>
                <a:spcPts val="1000"/>
              </a:spcBef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324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370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141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97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CD802-D0A0-4EAC-8222-78FFDDD76A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039392"/>
            <a:ext cx="10515600" cy="411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CB8BF-DA17-4856-91E9-77C601F2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9891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03056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6BB16225-AC51-4525-A1E8-438B8B0B736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39655" y="2117897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1" name="Content Placeholder 39">
            <a:extLst>
              <a:ext uri="{FF2B5EF4-FFF2-40B4-BE49-F238E27FC236}">
                <a16:creationId xmlns:a16="http://schemas.microsoft.com/office/drawing/2014/main" id="{6EC38F38-5935-49D5-AA85-4182E82D6F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39655" y="4724146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2" name="Content Placeholder 39">
            <a:extLst>
              <a:ext uri="{FF2B5EF4-FFF2-40B4-BE49-F238E27FC236}">
                <a16:creationId xmlns:a16="http://schemas.microsoft.com/office/drawing/2014/main" id="{51C9D5ED-A19A-42A1-9200-C77E39E6F5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39655" y="3420892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3" name="Content Placeholder 39">
            <a:extLst>
              <a:ext uri="{FF2B5EF4-FFF2-40B4-BE49-F238E27FC236}">
                <a16:creationId xmlns:a16="http://schemas.microsoft.com/office/drawing/2014/main" id="{47A95437-77F3-4E2C-8470-57587793A1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493865" y="2117897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4" name="Content Placeholder 39">
            <a:extLst>
              <a:ext uri="{FF2B5EF4-FFF2-40B4-BE49-F238E27FC236}">
                <a16:creationId xmlns:a16="http://schemas.microsoft.com/office/drawing/2014/main" id="{CB1EA2BE-D294-486E-88F0-2AA9518A6E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3865" y="4724146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5" name="Content Placeholder 39">
            <a:extLst>
              <a:ext uri="{FF2B5EF4-FFF2-40B4-BE49-F238E27FC236}">
                <a16:creationId xmlns:a16="http://schemas.microsoft.com/office/drawing/2014/main" id="{108734A0-880E-44E2-858F-7AA6C6B0A5A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493865" y="3420892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3CED4CD-5348-488E-A883-0486DD574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2706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endParaRPr lang="en-US" sz="4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0061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2057818"/>
            <a:ext cx="508000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ACFBE9-8475-4CC0-8189-87BFC4059A86}"/>
              </a:ext>
            </a:extLst>
          </p:cNvPr>
          <p:cNvSpPr/>
          <p:nvPr userDrawn="1"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F8C6FC8-D350-4A01-A7E0-5AEDAC96F358}"/>
              </a:ext>
            </a:extLst>
          </p:cNvPr>
          <p:cNvSpPr/>
          <p:nvPr userDrawn="1"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F1038A-897D-4C38-B499-73FC76C716FA}"/>
              </a:ext>
            </a:extLst>
          </p:cNvPr>
          <p:cNvSpPr/>
          <p:nvPr userDrawn="1"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73522"/>
            <a:ext cx="506730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51600" y="2061363"/>
            <a:ext cx="508000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64300" y="2677067"/>
            <a:ext cx="506730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57B52D4-8D50-4E16-B60E-688B084764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61647" y="0"/>
            <a:ext cx="2930353" cy="1559882"/>
          </a:xfrm>
          <a:custGeom>
            <a:avLst/>
            <a:gdLst>
              <a:gd name="connsiteX0" fmla="*/ 562125 w 2930353"/>
              <a:gd name="connsiteY0" fmla="*/ 435632 h 1559882"/>
              <a:gd name="connsiteX1" fmla="*/ 1124250 w 2930353"/>
              <a:gd name="connsiteY1" fmla="*/ 997757 h 1559882"/>
              <a:gd name="connsiteX2" fmla="*/ 562125 w 2930353"/>
              <a:gd name="connsiteY2" fmla="*/ 1559882 h 1559882"/>
              <a:gd name="connsiteX3" fmla="*/ 0 w 2930353"/>
              <a:gd name="connsiteY3" fmla="*/ 997757 h 1559882"/>
              <a:gd name="connsiteX4" fmla="*/ 562125 w 2930353"/>
              <a:gd name="connsiteY4" fmla="*/ 435632 h 1559882"/>
              <a:gd name="connsiteX5" fmla="*/ 1475035 w 2930353"/>
              <a:gd name="connsiteY5" fmla="*/ 0 h 1559882"/>
              <a:gd name="connsiteX6" fmla="*/ 2930353 w 2930353"/>
              <a:gd name="connsiteY6" fmla="*/ 0 h 1559882"/>
              <a:gd name="connsiteX7" fmla="*/ 2930353 w 2930353"/>
              <a:gd name="connsiteY7" fmla="*/ 1239091 h 1559882"/>
              <a:gd name="connsiteX8" fmla="*/ 2822571 w 2930353"/>
              <a:gd name="connsiteY8" fmla="*/ 1328020 h 1559882"/>
              <a:gd name="connsiteX9" fmla="*/ 2282653 w 2930353"/>
              <a:gd name="connsiteY9" fmla="*/ 1492942 h 1559882"/>
              <a:gd name="connsiteX10" fmla="*/ 1316979 w 2930353"/>
              <a:gd name="connsiteY10" fmla="*/ 527268 h 1559882"/>
              <a:gd name="connsiteX11" fmla="*/ 1392867 w 2930353"/>
              <a:gd name="connsiteY11" fmla="*/ 151384 h 15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30353" h="1559882">
                <a:moveTo>
                  <a:pt x="562125" y="435632"/>
                </a:moveTo>
                <a:cubicBezTo>
                  <a:pt x="872578" y="435632"/>
                  <a:pt x="1124250" y="687304"/>
                  <a:pt x="1124250" y="997757"/>
                </a:cubicBezTo>
                <a:cubicBezTo>
                  <a:pt x="1124250" y="1308210"/>
                  <a:pt x="872578" y="1559882"/>
                  <a:pt x="562125" y="1559882"/>
                </a:cubicBezTo>
                <a:cubicBezTo>
                  <a:pt x="251672" y="1559882"/>
                  <a:pt x="0" y="1308210"/>
                  <a:pt x="0" y="997757"/>
                </a:cubicBezTo>
                <a:cubicBezTo>
                  <a:pt x="0" y="687304"/>
                  <a:pt x="251672" y="435632"/>
                  <a:pt x="562125" y="435632"/>
                </a:cubicBezTo>
                <a:close/>
                <a:moveTo>
                  <a:pt x="1475035" y="0"/>
                </a:moveTo>
                <a:lnTo>
                  <a:pt x="2930353" y="0"/>
                </a:lnTo>
                <a:lnTo>
                  <a:pt x="2930353" y="1239091"/>
                </a:lnTo>
                <a:lnTo>
                  <a:pt x="2822571" y="1328020"/>
                </a:lnTo>
                <a:cubicBezTo>
                  <a:pt x="2668448" y="1432143"/>
                  <a:pt x="2482651" y="1492942"/>
                  <a:pt x="2282653" y="1492942"/>
                </a:cubicBezTo>
                <a:cubicBezTo>
                  <a:pt x="1749326" y="1492942"/>
                  <a:pt x="1316979" y="1060595"/>
                  <a:pt x="1316979" y="527268"/>
                </a:cubicBezTo>
                <a:cubicBezTo>
                  <a:pt x="1316979" y="393936"/>
                  <a:pt x="1344001" y="266916"/>
                  <a:pt x="1392867" y="151384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2F03355-C197-48C4-A4DF-B4133848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901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400" y="2037656"/>
            <a:ext cx="347472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64637"/>
            <a:ext cx="347472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44180" y="2052478"/>
            <a:ext cx="347472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56880" y="2668182"/>
            <a:ext cx="347472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4FDB27CA-009D-4863-B119-0EC3683714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2290" y="2048933"/>
            <a:ext cx="347472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D03E3EF-D812-4B98-959B-6800BBE59D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64990" y="2664637"/>
            <a:ext cx="347472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303FFB35-43AC-4A56-92D0-91038C098B3C}"/>
              </a:ext>
            </a:extLst>
          </p:cNvPr>
          <p:cNvSpPr/>
          <p:nvPr userDrawn="1"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AAF31DA0-707D-4A5D-BB7A-A5C90DB11A55}"/>
              </a:ext>
            </a:extLst>
          </p:cNvPr>
          <p:cNvSpPr/>
          <p:nvPr userDrawn="1"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539F452B-F55F-4D85-834B-A7EAF742647C}"/>
              </a:ext>
            </a:extLst>
          </p:cNvPr>
          <p:cNvSpPr/>
          <p:nvPr userDrawn="1"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D9F6BE-FB0B-42EE-8F02-95F5CC03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67FFA0E-8AAA-4DEB-B97E-31969F5792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93238" y="2"/>
            <a:ext cx="2798762" cy="1354861"/>
          </a:xfrm>
          <a:custGeom>
            <a:avLst/>
            <a:gdLst>
              <a:gd name="connsiteX0" fmla="*/ 316595 w 2798762"/>
              <a:gd name="connsiteY0" fmla="*/ 88390 h 1354861"/>
              <a:gd name="connsiteX1" fmla="*/ 1152465 w 2798762"/>
              <a:gd name="connsiteY1" fmla="*/ 88390 h 1354861"/>
              <a:gd name="connsiteX2" fmla="*/ 1469083 w 2798762"/>
              <a:gd name="connsiteY2" fmla="*/ 721626 h 1354861"/>
              <a:gd name="connsiteX3" fmla="*/ 1152465 w 2798762"/>
              <a:gd name="connsiteY3" fmla="*/ 1354861 h 1354861"/>
              <a:gd name="connsiteX4" fmla="*/ 316595 w 2798762"/>
              <a:gd name="connsiteY4" fmla="*/ 1354861 h 1354861"/>
              <a:gd name="connsiteX5" fmla="*/ 0 w 2798762"/>
              <a:gd name="connsiteY5" fmla="*/ 721672 h 1354861"/>
              <a:gd name="connsiteX6" fmla="*/ 0 w 2798762"/>
              <a:gd name="connsiteY6" fmla="*/ 721580 h 1354861"/>
              <a:gd name="connsiteX7" fmla="*/ 1250372 w 2798762"/>
              <a:gd name="connsiteY7" fmla="*/ 0 h 1354861"/>
              <a:gd name="connsiteX8" fmla="*/ 2798762 w 2798762"/>
              <a:gd name="connsiteY8" fmla="*/ 0 h 1354861"/>
              <a:gd name="connsiteX9" fmla="*/ 2798762 w 2798762"/>
              <a:gd name="connsiteY9" fmla="*/ 505978 h 1354861"/>
              <a:gd name="connsiteX10" fmla="*/ 2719777 w 2798762"/>
              <a:gd name="connsiteY10" fmla="*/ 663948 h 1354861"/>
              <a:gd name="connsiteX11" fmla="*/ 1582346 w 2798762"/>
              <a:gd name="connsiteY11" fmla="*/ 663948 h 1354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98762" h="1354861">
                <a:moveTo>
                  <a:pt x="316595" y="88390"/>
                </a:moveTo>
                <a:lnTo>
                  <a:pt x="1152465" y="88390"/>
                </a:lnTo>
                <a:lnTo>
                  <a:pt x="1469083" y="721626"/>
                </a:lnTo>
                <a:lnTo>
                  <a:pt x="1152465" y="1354861"/>
                </a:lnTo>
                <a:lnTo>
                  <a:pt x="316595" y="1354861"/>
                </a:lnTo>
                <a:lnTo>
                  <a:pt x="0" y="721672"/>
                </a:lnTo>
                <a:lnTo>
                  <a:pt x="0" y="721580"/>
                </a:lnTo>
                <a:close/>
                <a:moveTo>
                  <a:pt x="1250372" y="0"/>
                </a:moveTo>
                <a:lnTo>
                  <a:pt x="2798762" y="0"/>
                </a:lnTo>
                <a:lnTo>
                  <a:pt x="2798762" y="505978"/>
                </a:lnTo>
                <a:lnTo>
                  <a:pt x="2719777" y="663948"/>
                </a:lnTo>
                <a:lnTo>
                  <a:pt x="1582346" y="663948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559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5E74AFC3-1C60-42DE-ABAC-F53CA85AC6F1}"/>
              </a:ext>
            </a:extLst>
          </p:cNvPr>
          <p:cNvSpPr/>
          <p:nvPr userDrawn="1"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133261-FFEB-4B3D-B085-14AEAE741F82}"/>
              </a:ext>
            </a:extLst>
          </p:cNvPr>
          <p:cNvSpPr/>
          <p:nvPr userDrawn="1"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3FE105-1D8E-48B0-AD9A-95AC9A165651}"/>
              </a:ext>
            </a:extLst>
          </p:cNvPr>
          <p:cNvSpPr/>
          <p:nvPr userDrawn="1"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4388F5-0DCA-4A09-A6E1-AE07F4030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1" y="2042790"/>
            <a:ext cx="4143374" cy="26543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2C12FDC-BC11-43E8-B22A-3EC48E0344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7699" y="4953919"/>
            <a:ext cx="4143375" cy="7594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</a:defRPr>
            </a:lvl1pPr>
            <a:lvl2pPr>
              <a:buNone/>
              <a:defRPr sz="200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D43F412-F2C7-4D38-BDD0-966302908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7402" y="533063"/>
            <a:ext cx="5542598" cy="5611666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1176083-2CE5-4707-A564-46805454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186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1AD702D-965C-40E9-8D23-D82E2CFA9E61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10/2/2026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E0959-6855-4447-BAEC-D32B47712F07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A05B6A-9124-4DBB-843A-84818A8F79FC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88" r:id="rId3"/>
    <p:sldLayoutId id="2147483681" r:id="rId4"/>
    <p:sldLayoutId id="2147483680" r:id="rId5"/>
    <p:sldLayoutId id="2147483682" r:id="rId6"/>
    <p:sldLayoutId id="2147483677" r:id="rId7"/>
    <p:sldLayoutId id="2147483654" r:id="rId8"/>
    <p:sldLayoutId id="2147483685" r:id="rId9"/>
    <p:sldLayoutId id="2147483684" r:id="rId10"/>
    <p:sldLayoutId id="2147483686" r:id="rId11"/>
    <p:sldLayoutId id="2147483687" r:id="rId12"/>
    <p:sldLayoutId id="214748367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7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Abstract modern glass architecture in deep navy and cobalt blue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27" b="27"/>
          <a:stretch>
            <a:fillRect/>
          </a:stretch>
        </p:blipFill>
        <p:spPr/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Shop</a:t>
            </a:r>
          </a:p>
          <a:p>
            <a:r>
              <a:rPr dirty="0"/>
              <a:t>Performance</a:t>
            </a:r>
          </a:p>
          <a:p>
            <a:r>
              <a:rPr dirty="0"/>
              <a:t>Analysis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JANUARY 2024 – JUNE 2026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01 October, 2026</a:t>
            </a:r>
          </a:p>
          <a:p>
            <a:r>
              <a:rPr dirty="0"/>
              <a:t>Created by Hitekani Masingi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7F211-ED25-4BED-862A-17F84B323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l"/>
            <a:r>
              <a:rPr lang="en-US" sz="3600" b="1">
                <a:solidFill>
                  <a:srgbClr val="141414"/>
                </a:solidFill>
                <a:latin typeface="Arial"/>
              </a:rPr>
              <a:t>Executive Summary — Jan 2024–Jun 2026</a:t>
            </a:r>
            <a:endParaRPr lang="en-US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F3A0DAD0-3E39-4BBF-88E4-5C3C306DCC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018" y="2105016"/>
            <a:ext cx="914400" cy="764219"/>
          </a:xfrm>
          <a:prstGeom prst="hexagon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Graphic 15" descr="Target Audience">
            <a:extLst>
              <a:ext uri="{FF2B5EF4-FFF2-40B4-BE49-F238E27FC236}">
                <a16:creationId xmlns:a16="http://schemas.microsoft.com/office/drawing/2014/main" id="{C4663C19-45BD-46CB-AA38-6CE7C4522B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513" y="2204476"/>
            <a:ext cx="548640" cy="54864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A302878-D117-49D8-8CD3-093E34DF215B}"/>
              </a:ext>
            </a:extLst>
          </p:cNvPr>
          <p:cNvSpPr txBox="1"/>
          <p:nvPr/>
        </p:nvSpPr>
        <p:spPr>
          <a:xfrm>
            <a:off x="1748531" y="2125176"/>
            <a:ext cx="36576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500" b="1">
                <a:solidFill>
                  <a:srgbClr val="ED7D31"/>
                </a:solidFill>
                <a:latin typeface="Arial"/>
              </a:rPr>
              <a:t>R3.49m revenue</a:t>
            </a:r>
          </a:p>
          <a:p>
            <a:pPr>
              <a:spcBef>
                <a:spcPts val="0"/>
              </a:spcBef>
            </a:pPr>
            <a:r>
              <a:rPr lang="en-US" sz="1400">
                <a:solidFill>
                  <a:srgbClr val="141414"/>
                </a:solidFill>
                <a:latin typeface="Arial"/>
              </a:rPr>
              <a:t>49,970 orders • R69.78 average order value</a:t>
            </a:r>
          </a:p>
        </p:txBody>
      </p:sp>
      <p:sp>
        <p:nvSpPr>
          <p:cNvPr id="24" name="Hexagon 23">
            <a:extLst>
              <a:ext uri="{FF2B5EF4-FFF2-40B4-BE49-F238E27FC236}">
                <a16:creationId xmlns:a16="http://schemas.microsoft.com/office/drawing/2014/main" id="{B8F5A225-0C56-4A56-9265-DBE9001CCC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82827" y="2105016"/>
            <a:ext cx="914400" cy="764219"/>
          </a:xfrm>
          <a:prstGeom prst="hexagon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4" name="Graphic 33" descr="Upward trend">
            <a:extLst>
              <a:ext uri="{FF2B5EF4-FFF2-40B4-BE49-F238E27FC236}">
                <a16:creationId xmlns:a16="http://schemas.microsoft.com/office/drawing/2014/main" id="{112CEB44-CF96-4193-8126-3EF3F89B2E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6562762" y="2203745"/>
            <a:ext cx="548640" cy="5486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4DBD184-BCBE-4A38-8DF2-C0C550ADE4C4}"/>
              </a:ext>
            </a:extLst>
          </p:cNvPr>
          <p:cNvSpPr txBox="1"/>
          <p:nvPr/>
        </p:nvSpPr>
        <p:spPr>
          <a:xfrm>
            <a:off x="7504293" y="2125176"/>
            <a:ext cx="36576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500" b="1">
                <a:solidFill>
                  <a:srgbClr val="ED7D31"/>
                </a:solidFill>
                <a:latin typeface="Arial"/>
              </a:rPr>
              <a:t>Concentration risk</a:t>
            </a:r>
          </a:p>
          <a:p>
            <a:pPr>
              <a:spcBef>
                <a:spcPts val="0"/>
              </a:spcBef>
            </a:pPr>
            <a:r>
              <a:rPr lang="en-US" sz="1400">
                <a:solidFill>
                  <a:srgbClr val="141414"/>
                </a:solidFill>
                <a:latin typeface="Arial"/>
              </a:rPr>
              <a:t>Revenue is uneven across products and cities.</a:t>
            </a:r>
          </a:p>
        </p:txBody>
      </p:sp>
      <p:sp>
        <p:nvSpPr>
          <p:cNvPr id="19" name="Hexagon 18">
            <a:extLst>
              <a:ext uri="{FF2B5EF4-FFF2-40B4-BE49-F238E27FC236}">
                <a16:creationId xmlns:a16="http://schemas.microsoft.com/office/drawing/2014/main" id="{A6510D74-8CDF-4500-996B-40C07942D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018" y="3510536"/>
            <a:ext cx="914400" cy="764219"/>
          </a:xfrm>
          <a:prstGeom prst="hexagon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" name="Graphic 29" descr="Shopping bag">
            <a:extLst>
              <a:ext uri="{FF2B5EF4-FFF2-40B4-BE49-F238E27FC236}">
                <a16:creationId xmlns:a16="http://schemas.microsoft.com/office/drawing/2014/main" id="{245749D8-5A06-44F2-B96E-6718BBEB6C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793513" y="3618467"/>
            <a:ext cx="548640" cy="54864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0A3F38B-310F-454B-9EF6-EF4B5FD017B0}"/>
              </a:ext>
            </a:extLst>
          </p:cNvPr>
          <p:cNvSpPr txBox="1"/>
          <p:nvPr/>
        </p:nvSpPr>
        <p:spPr>
          <a:xfrm>
            <a:off x="1748531" y="3531563"/>
            <a:ext cx="36576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500" b="1">
                <a:solidFill>
                  <a:srgbClr val="ED7D31"/>
                </a:solidFill>
                <a:latin typeface="Arial"/>
              </a:rPr>
              <a:t>Variation creates opportunity</a:t>
            </a:r>
          </a:p>
          <a:p>
            <a:pPr>
              <a:spcBef>
                <a:spcPts val="0"/>
              </a:spcBef>
            </a:pPr>
            <a:r>
              <a:rPr lang="en-US" sz="1400">
                <a:solidFill>
                  <a:srgbClr val="141414"/>
                </a:solidFill>
                <a:latin typeface="Arial"/>
              </a:rPr>
              <a:t>Monthly and customer-segment performance fluctuates.</a:t>
            </a:r>
          </a:p>
        </p:txBody>
      </p:sp>
      <p:sp>
        <p:nvSpPr>
          <p:cNvPr id="26" name="Hexagon 25">
            <a:extLst>
              <a:ext uri="{FF2B5EF4-FFF2-40B4-BE49-F238E27FC236}">
                <a16:creationId xmlns:a16="http://schemas.microsoft.com/office/drawing/2014/main" id="{F73E68A5-255F-4C3B-82E4-28F5CE1A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82827" y="3510536"/>
            <a:ext cx="914400" cy="764219"/>
          </a:xfrm>
          <a:prstGeom prst="hexagon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6" name="Graphic 35" descr="Clipboard">
            <a:extLst>
              <a:ext uri="{FF2B5EF4-FFF2-40B4-BE49-F238E27FC236}">
                <a16:creationId xmlns:a16="http://schemas.microsoft.com/office/drawing/2014/main" id="{3F4B17BF-671E-4F42-AB1B-F84F52DCE2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6573648" y="3606850"/>
            <a:ext cx="548640" cy="5486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BD1A11C-0D13-40D5-A96C-6C9C65FDED12}"/>
              </a:ext>
            </a:extLst>
          </p:cNvPr>
          <p:cNvSpPr txBox="1"/>
          <p:nvPr/>
        </p:nvSpPr>
        <p:spPr>
          <a:xfrm>
            <a:off x="7507224" y="3529584"/>
            <a:ext cx="3657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500" b="1">
                <a:solidFill>
                  <a:srgbClr val="ED7D31"/>
                </a:solidFill>
                <a:latin typeface="Arial"/>
              </a:rPr>
              <a:t>Headline</a:t>
            </a:r>
          </a:p>
          <a:p>
            <a:pPr>
              <a:spcBef>
                <a:spcPts val="0"/>
              </a:spcBef>
            </a:pPr>
            <a:r>
              <a:rPr lang="en-US" sz="1400">
                <a:solidFill>
                  <a:srgbClr val="141414"/>
                </a:solidFill>
                <a:latin typeface="Arial"/>
              </a:rPr>
              <a:t>Strong sales activity—but targeted action is needed across products, locations and customers.</a:t>
            </a:r>
          </a:p>
        </p:txBody>
      </p:sp>
    </p:spTree>
    <p:extLst>
      <p:ext uri="{BB962C8B-B14F-4D97-AF65-F5344CB8AC3E}">
        <p14:creationId xmlns:p14="http://schemas.microsoft.com/office/powerpoint/2010/main" val="4120671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:a16="http://schemas.microsoft.com/office/drawing/2014/main" id="{B89E9C66-E38F-4FFF-B1A6-BA4E05DD8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68" y="804672"/>
            <a:ext cx="8046720" cy="832104"/>
          </a:xfrm>
        </p:spPr>
        <p:txBody>
          <a:bodyPr wrap="square" anchor="ctr"/>
          <a:lstStyle/>
          <a:p>
            <a:pPr algn="l"/>
            <a:r>
              <a:rPr lang="en-ZA" sz="3600" b="1">
                <a:solidFill>
                  <a:srgbClr val="141414"/>
                </a:solidFill>
                <a:latin typeface="Arial"/>
              </a:rPr>
              <a:t>49,970 orders produced R3.49m</a:t>
            </a:r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FCE041C-95BD-44D2-B6C1-24D83ADE17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wrap="square" anchor="ctr"/>
          <a:lstStyle/>
          <a:p>
            <a:r>
              <a:rPr lang="en-ZA" sz="1600" b="1">
                <a:solidFill>
                  <a:srgbClr val="141414"/>
                </a:solidFill>
                <a:latin typeface="Arial"/>
              </a:rPr>
              <a:t>Total revenue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0AED82-F4F3-044A-B30A-FD32531BD7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wrap="square"/>
          <a:lstStyle/>
          <a:p>
            <a:pPr>
              <a:spcAft>
                <a:spcPts val="900"/>
              </a:spcAft>
            </a:pPr>
            <a:r>
              <a:rPr lang="en-US" sz="3000" b="1">
                <a:solidFill>
                  <a:srgbClr val="1F4E79"/>
                </a:solidFill>
                <a:latin typeface="Arial"/>
              </a:rPr>
              <a:t>R3,486,949.90</a:t>
            </a:r>
            <a:endParaRPr lang="en-US"/>
          </a:p>
          <a:p>
            <a:pPr>
              <a:spcBef>
                <a:spcPts val="200"/>
              </a:spcBef>
            </a:pPr>
            <a:r>
              <a:rPr lang="en-US" sz="1400">
                <a:solidFill>
                  <a:srgbClr val="141414"/>
                </a:solidFill>
                <a:latin typeface="Arial"/>
              </a:rPr>
              <a:t>January 2024–June 2026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5DCF7EA-3411-4C0C-80B9-EA80529F642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wrap="square" anchor="ctr"/>
          <a:lstStyle/>
          <a:p>
            <a:r>
              <a:rPr lang="en-ZA" sz="1600" b="1">
                <a:solidFill>
                  <a:srgbClr val="141414"/>
                </a:solidFill>
                <a:latin typeface="Arial"/>
              </a:rPr>
              <a:t>Total orders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F833AD6-5D57-BE44-8842-EAACC39A6BE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 wrap="square"/>
          <a:lstStyle/>
          <a:p>
            <a:pPr>
              <a:spcAft>
                <a:spcPts val="900"/>
              </a:spcAft>
            </a:pPr>
            <a:r>
              <a:rPr lang="en-ZA" sz="3000" b="1">
                <a:solidFill>
                  <a:srgbClr val="1F4E79"/>
                </a:solidFill>
                <a:latin typeface="Arial"/>
              </a:rPr>
              <a:t>49,970</a:t>
            </a:r>
            <a:endParaRPr lang="en-ZA"/>
          </a:p>
          <a:p>
            <a:pPr>
              <a:spcBef>
                <a:spcPts val="200"/>
              </a:spcBef>
            </a:pPr>
            <a:r>
              <a:rPr lang="en-ZA" sz="1400">
                <a:solidFill>
                  <a:srgbClr val="141414"/>
                </a:solidFill>
                <a:latin typeface="Arial"/>
              </a:rPr>
              <a:t>Nearly 50,000 transactions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EB1EB18-010F-4370-A5A6-0A68EC2345C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wrap="square" anchor="ctr"/>
          <a:lstStyle/>
          <a:p>
            <a:r>
              <a:rPr lang="en-ZA" sz="1600" b="1">
                <a:solidFill>
                  <a:srgbClr val="141414"/>
                </a:solidFill>
                <a:latin typeface="Arial"/>
              </a:rPr>
              <a:t>Average order value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9205F1B-456F-AF42-81AD-D646AEB4F7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wrap="square"/>
          <a:lstStyle/>
          <a:p>
            <a:pPr>
              <a:spcAft>
                <a:spcPts val="900"/>
              </a:spcAft>
            </a:pPr>
            <a:r>
              <a:rPr lang="en-ZA" sz="3000" b="1">
                <a:solidFill>
                  <a:srgbClr val="1F4E79"/>
                </a:solidFill>
                <a:latin typeface="Arial"/>
              </a:rPr>
              <a:t>R69.78</a:t>
            </a:r>
            <a:endParaRPr lang="en-ZA"/>
          </a:p>
          <a:p>
            <a:pPr>
              <a:spcBef>
                <a:spcPts val="200"/>
              </a:spcBef>
            </a:pPr>
            <a:r>
              <a:rPr lang="en-ZA" sz="1400">
                <a:solidFill>
                  <a:srgbClr val="141414"/>
                </a:solidFill>
                <a:latin typeface="Arial"/>
              </a:rPr>
              <a:t>Primary basket-size opportunity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5779008"/>
            <a:ext cx="108813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  <a:latin typeface="Arial"/>
              </a:rPr>
              <a:t>So what?  Strong order volume creates scale; increasing spend per order is the clearest near-term growth lever.</a:t>
            </a:r>
          </a:p>
        </p:txBody>
      </p:sp>
    </p:spTree>
    <p:extLst>
      <p:ext uri="{BB962C8B-B14F-4D97-AF65-F5344CB8AC3E}">
        <p14:creationId xmlns:p14="http://schemas.microsoft.com/office/powerpoint/2010/main" val="3903608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EEDAF89-0ECD-416A-93E5-A300FF0B9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l"/>
            <a:r>
              <a:rPr lang="en-ZA" sz="3600" b="1">
                <a:solidFill>
                  <a:srgbClr val="141414"/>
                </a:solidFill>
                <a:latin typeface="Arial"/>
              </a:rPr>
              <a:t>Revenue seasonality guides planning</a:t>
            </a:r>
          </a:p>
        </p:txBody>
      </p:sp>
      <p:graphicFrame>
        <p:nvGraphicFramePr>
          <p:cNvPr id="9" name="Chart 8" descr="Char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3562684"/>
              </p:ext>
            </p:extLst>
          </p:nvPr>
        </p:nvGraphicFramePr>
        <p:xfrm>
          <a:off x="841248" y="1600200"/>
          <a:ext cx="1046988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880360" y="2743200"/>
            <a:ext cx="6400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5A5A5A"/>
                </a:solidFill>
                <a:latin typeface="Arial"/>
              </a:rPr>
              <a:t>Monthly values were not found</a:t>
            </a:r>
            <a:br/>
            <a:r>
              <a:rPr sz="2000" b="1">
                <a:solidFill>
                  <a:srgbClr val="5A5A5A"/>
                </a:solidFill>
                <a:latin typeface="Arial"/>
              </a:rPr>
              <a:t>Connect the source data to populate this editable line chart.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5413248"/>
            <a:ext cx="104698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  <a:latin typeface="Arial"/>
              </a:rPr>
              <a:t>So what?  The trend will identify stronger and weaker months for promotion, stock and staffing decisions.</a:t>
            </a:r>
          </a:p>
        </p:txBody>
      </p:sp>
    </p:spTree>
    <p:extLst>
      <p:ext uri="{BB962C8B-B14F-4D97-AF65-F5344CB8AC3E}">
        <p14:creationId xmlns:p14="http://schemas.microsoft.com/office/powerpoint/2010/main" val="25800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EEDAF89-0ECD-416A-93E5-A300FF0B9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l"/>
            <a:r>
              <a:rPr lang="en-ZA" sz="3600" b="1">
                <a:solidFill>
                  <a:srgbClr val="141414"/>
                </a:solidFill>
                <a:latin typeface="Arial"/>
              </a:rPr>
              <a:t>Five products generated R1.46m</a:t>
            </a:r>
          </a:p>
        </p:txBody>
      </p:sp>
      <p:graphicFrame>
        <p:nvGraphicFramePr>
          <p:cNvPr id="9" name="Chart 8" descr="Char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0536095"/>
              </p:ext>
            </p:extLst>
          </p:nvPr>
        </p:nvGraphicFramePr>
        <p:xfrm>
          <a:off x="841248" y="1572768"/>
          <a:ext cx="1046988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41248" y="5413248"/>
            <a:ext cx="104698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  <a:latin typeface="Arial"/>
              </a:rPr>
              <a:t>So what?  Protect stock availability and use complementary promotions around the products already driving revenue.</a:t>
            </a:r>
          </a:p>
        </p:txBody>
      </p:sp>
    </p:spTree>
    <p:extLst>
      <p:ext uri="{BB962C8B-B14F-4D97-AF65-F5344CB8AC3E}">
        <p14:creationId xmlns:p14="http://schemas.microsoft.com/office/powerpoint/2010/main" val="25800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EEDAF89-0ECD-416A-93E5-A300FF0B9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l"/>
            <a:r>
              <a:rPr lang="en-US" sz="3600" b="1">
                <a:solidFill>
                  <a:srgbClr val="141414"/>
                </a:solidFill>
                <a:latin typeface="Arial"/>
              </a:rPr>
              <a:t>City revenue data is still needed</a:t>
            </a:r>
          </a:p>
        </p:txBody>
      </p:sp>
      <p:graphicFrame>
        <p:nvGraphicFramePr>
          <p:cNvPr id="9" name="Chart 8" descr="Char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0150809"/>
              </p:ext>
            </p:extLst>
          </p:nvPr>
        </p:nvGraphicFramePr>
        <p:xfrm>
          <a:off x="841248" y="1600200"/>
          <a:ext cx="1046988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880360" y="2743200"/>
            <a:ext cx="6400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5A5A5A"/>
                </a:solidFill>
                <a:latin typeface="Arial"/>
              </a:rPr>
              <a:t>City values were not found</a:t>
            </a:r>
            <a:br/>
            <a:r>
              <a:rPr sz="2000" b="1">
                <a:solidFill>
                  <a:srgbClr val="5A5A5A"/>
                </a:solidFill>
                <a:latin typeface="Arial"/>
              </a:rPr>
              <a:t>Connect the source data to populate this editable bar chart.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5413248"/>
            <a:ext cx="104698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  <a:latin typeface="Arial"/>
              </a:rPr>
              <a:t>So what?  Once populated, the chart will show where demand is strongest and which locations need investigation.</a:t>
            </a:r>
          </a:p>
        </p:txBody>
      </p:sp>
    </p:spTree>
    <p:extLst>
      <p:ext uri="{BB962C8B-B14F-4D97-AF65-F5344CB8AC3E}">
        <p14:creationId xmlns:p14="http://schemas.microsoft.com/office/powerpoint/2010/main" val="25800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EEDAF89-0ECD-416A-93E5-A300FF0B9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algn="l"/>
            <a:r>
              <a:rPr lang="en-US" sz="3600" b="1">
                <a:solidFill>
                  <a:srgbClr val="141414"/>
                </a:solidFill>
                <a:latin typeface="Arial"/>
              </a:rPr>
              <a:t>Segment revenue data is still needed</a:t>
            </a:r>
          </a:p>
        </p:txBody>
      </p:sp>
      <p:graphicFrame>
        <p:nvGraphicFramePr>
          <p:cNvPr id="9" name="Chart 8" descr="Char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989927"/>
              </p:ext>
            </p:extLst>
          </p:nvPr>
        </p:nvGraphicFramePr>
        <p:xfrm>
          <a:off x="841248" y="1600200"/>
          <a:ext cx="1046988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880360" y="2743200"/>
            <a:ext cx="6400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5A5A5A"/>
                </a:solidFill>
                <a:latin typeface="Arial"/>
              </a:rPr>
              <a:t>Segment values were not found</a:t>
            </a:r>
            <a:br/>
            <a:r>
              <a:rPr sz="2000" b="1">
                <a:solidFill>
                  <a:srgbClr val="5A5A5A"/>
                </a:solidFill>
                <a:latin typeface="Arial"/>
              </a:rPr>
              <a:t>Connect the source data to compare New, Regular and VIP customers.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5413248"/>
            <a:ext cx="104698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141414"/>
                </a:solidFill>
                <a:latin typeface="Arial"/>
              </a:rPr>
              <a:t>So what?  Segment-level revenue will support more targeted retention offers and promotions.</a:t>
            </a:r>
          </a:p>
        </p:txBody>
      </p:sp>
    </p:spTree>
    <p:extLst>
      <p:ext uri="{BB962C8B-B14F-4D97-AF65-F5344CB8AC3E}">
        <p14:creationId xmlns:p14="http://schemas.microsoft.com/office/powerpoint/2010/main" val="25800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:a16="http://schemas.microsoft.com/office/drawing/2014/main" id="{B89E9C66-E38F-4FFF-B1A6-BA4E05DD8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68" y="804672"/>
            <a:ext cx="8046720" cy="832104"/>
          </a:xfrm>
        </p:spPr>
        <p:txBody>
          <a:bodyPr wrap="square" anchor="ctr"/>
          <a:lstStyle/>
          <a:p>
            <a:pPr algn="l"/>
            <a:r>
              <a:rPr lang="en-US" sz="3600" b="1">
                <a:solidFill>
                  <a:srgbClr val="141414"/>
                </a:solidFill>
                <a:latin typeface="Arial"/>
              </a:rPr>
              <a:t>Three actions unlock targeted growth</a:t>
            </a:r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FCE041C-95BD-44D2-B6C1-24D83ADE17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wrap="square" anchor="ctr"/>
          <a:lstStyle/>
          <a:p>
            <a:r>
              <a:rPr sz="1600" b="1">
                <a:solidFill>
                  <a:srgbClr val="141414"/>
                </a:solidFill>
                <a:latin typeface="Arial"/>
              </a:rPr>
              <a:t>1  Increase order value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0AED82-F4F3-044A-B30A-FD32531BD7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wrap="square"/>
          <a:lstStyle/>
          <a:p>
            <a:pPr>
              <a:spcAft>
                <a:spcPts val="500"/>
              </a:spcAft>
            </a:pPr>
            <a:r>
              <a:rPr lang="en-ZA" sz="1400">
                <a:solidFill>
                  <a:srgbClr val="141414"/>
                </a:solidFill>
                <a:latin typeface="Arial"/>
              </a:rPr>
              <a:t>• Test product bundles</a:t>
            </a:r>
            <a:endParaRPr lang="en-US"/>
          </a:p>
          <a:p>
            <a:pPr>
              <a:spcAft>
                <a:spcPts val="500"/>
              </a:spcAft>
            </a:pPr>
            <a:r>
              <a:rPr lang="en-US" sz="1400">
                <a:solidFill>
                  <a:srgbClr val="141414"/>
                </a:solidFill>
                <a:latin typeface="Arial"/>
              </a:rPr>
              <a:t>• Recommend related products</a:t>
            </a:r>
          </a:p>
          <a:p>
            <a:pPr>
              <a:spcAft>
                <a:spcPts val="500"/>
              </a:spcAft>
            </a:pPr>
            <a:r>
              <a:rPr lang="en-US" sz="1400">
                <a:solidFill>
                  <a:srgbClr val="141414"/>
                </a:solidFill>
                <a:latin typeface="Arial"/>
              </a:rPr>
              <a:t>• Use minimum-spend offers</a:t>
            </a:r>
          </a:p>
          <a:p>
            <a:pPr>
              <a:spcAft>
                <a:spcPts val="500"/>
              </a:spcAft>
            </a:pPr>
            <a:r>
              <a:rPr lang="en-US" sz="1400">
                <a:solidFill>
                  <a:srgbClr val="141414"/>
                </a:solidFill>
                <a:latin typeface="Arial"/>
              </a:rPr>
              <a:t>• Reward multi-item baskets</a:t>
            </a:r>
          </a:p>
          <a:p>
            <a:pPr>
              <a:spcBef>
                <a:spcPts val="800"/>
              </a:spcBef>
            </a:pPr>
            <a:r>
              <a:rPr lang="en-US" sz="1400" b="1">
                <a:solidFill>
                  <a:srgbClr val="ED7D31"/>
                </a:solidFill>
                <a:latin typeface="Arial"/>
              </a:rPr>
              <a:t>Goal: Lift spend above R69.78 per order.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5DCF7EA-3411-4C0C-80B9-EA80529F642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wrap="square" anchor="ctr"/>
          <a:lstStyle/>
          <a:p>
            <a:r>
              <a:rPr sz="1600" b="1">
                <a:solidFill>
                  <a:srgbClr val="141414"/>
                </a:solidFill>
                <a:latin typeface="Arial"/>
              </a:rPr>
              <a:t>2  Protect top products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F833AD6-5D57-BE44-8842-EAACC39A6BE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 wrap="square"/>
          <a:lstStyle/>
          <a:p>
            <a:pPr>
              <a:spcAft>
                <a:spcPts val="500"/>
              </a:spcAft>
            </a:pPr>
            <a:r>
              <a:rPr lang="en-ZA" sz="1400">
                <a:solidFill>
                  <a:srgbClr val="141414"/>
                </a:solidFill>
                <a:latin typeface="Arial"/>
              </a:rPr>
              <a:t>• Monitor stock levels</a:t>
            </a:r>
            <a:endParaRPr lang="en-US"/>
          </a:p>
          <a:p>
            <a:pPr>
              <a:spcAft>
                <a:spcPts val="500"/>
              </a:spcAft>
            </a:pPr>
            <a:r>
              <a:rPr lang="en-US" sz="1400">
                <a:solidFill>
                  <a:srgbClr val="141414"/>
                </a:solidFill>
                <a:latin typeface="Arial"/>
              </a:rPr>
              <a:t>• Avoid preventable stock-outs</a:t>
            </a:r>
          </a:p>
          <a:p>
            <a:pPr>
              <a:spcAft>
                <a:spcPts val="500"/>
              </a:spcAft>
            </a:pPr>
            <a:r>
              <a:rPr lang="en-US" sz="1400">
                <a:solidFill>
                  <a:srgbClr val="141414"/>
                </a:solidFill>
                <a:latin typeface="Arial"/>
              </a:rPr>
              <a:t>• Promote complements</a:t>
            </a:r>
          </a:p>
          <a:p>
            <a:pPr>
              <a:spcAft>
                <a:spcPts val="500"/>
              </a:spcAft>
            </a:pPr>
            <a:r>
              <a:rPr lang="en-US" sz="1400">
                <a:solidFill>
                  <a:srgbClr val="141414"/>
                </a:solidFill>
                <a:latin typeface="Arial"/>
              </a:rPr>
              <a:t>• Review performance monthly</a:t>
            </a:r>
          </a:p>
          <a:p>
            <a:pPr>
              <a:spcBef>
                <a:spcPts val="800"/>
              </a:spcBef>
            </a:pPr>
            <a:r>
              <a:rPr lang="en-US" sz="1400" b="1">
                <a:solidFill>
                  <a:srgbClr val="ED7D31"/>
                </a:solidFill>
                <a:latin typeface="Arial"/>
              </a:rPr>
              <a:t>Goal: Defend revenue from proven winners.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EB1EB18-010F-4370-A5A6-0A68EC2345C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wrap="square" anchor="ctr"/>
          <a:lstStyle/>
          <a:p>
            <a:r>
              <a:rPr sz="1600" b="1">
                <a:solidFill>
                  <a:srgbClr val="141414"/>
                </a:solidFill>
                <a:latin typeface="Arial"/>
              </a:rPr>
              <a:t>3  Target opportunities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9205F1B-456F-AF42-81AD-D646AEB4F7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wrap="square"/>
          <a:lstStyle/>
          <a:p>
            <a:pPr>
              <a:spcAft>
                <a:spcPts val="500"/>
              </a:spcAft>
            </a:pPr>
            <a:r>
              <a:rPr lang="en-ZA" sz="1400">
                <a:solidFill>
                  <a:srgbClr val="141414"/>
                </a:solidFill>
                <a:latin typeface="Arial"/>
              </a:rPr>
              <a:t>• Investigate weaker cities</a:t>
            </a:r>
            <a:endParaRPr lang="en-US"/>
          </a:p>
          <a:p>
            <a:pPr>
              <a:spcAft>
                <a:spcPts val="500"/>
              </a:spcAft>
            </a:pPr>
            <a:r>
              <a:rPr lang="en-US" sz="1400">
                <a:solidFill>
                  <a:srgbClr val="141414"/>
                </a:solidFill>
                <a:latin typeface="Arial"/>
              </a:rPr>
              <a:t>• Drive new-customer repeats</a:t>
            </a:r>
          </a:p>
          <a:p>
            <a:pPr>
              <a:spcAft>
                <a:spcPts val="500"/>
              </a:spcAft>
            </a:pPr>
            <a:r>
              <a:rPr lang="en-US" sz="1400">
                <a:solidFill>
                  <a:srgbClr val="141414"/>
                </a:solidFill>
                <a:latin typeface="Arial"/>
              </a:rPr>
              <a:t>• Tailor offers by segment</a:t>
            </a:r>
          </a:p>
          <a:p>
            <a:pPr>
              <a:spcAft>
                <a:spcPts val="500"/>
              </a:spcAft>
            </a:pPr>
            <a:r>
              <a:rPr lang="en-US" sz="1400">
                <a:solidFill>
                  <a:srgbClr val="141414"/>
                </a:solidFill>
                <a:latin typeface="Arial"/>
              </a:rPr>
              <a:t>• Compare behaviour by city</a:t>
            </a:r>
          </a:p>
          <a:p>
            <a:pPr>
              <a:spcBef>
                <a:spcPts val="800"/>
              </a:spcBef>
            </a:pPr>
            <a:r>
              <a:rPr lang="en-US" sz="1400" b="1">
                <a:solidFill>
                  <a:srgbClr val="ED7D31"/>
                </a:solidFill>
                <a:latin typeface="Arial"/>
              </a:rPr>
              <a:t>Goal: Turn variation into focused growth.</a:t>
            </a:r>
          </a:p>
        </p:txBody>
      </p:sp>
    </p:spTree>
    <p:extLst>
      <p:ext uri="{BB962C8B-B14F-4D97-AF65-F5344CB8AC3E}">
        <p14:creationId xmlns:p14="http://schemas.microsoft.com/office/powerpoint/2010/main" val="39036089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7E6D6-C63D-4A7C-B1F1-1E8117B25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68" y="804672"/>
            <a:ext cx="8046720" cy="832104"/>
          </a:xfrm>
        </p:spPr>
        <p:txBody>
          <a:bodyPr wrap="square" anchor="ctr"/>
          <a:lstStyle/>
          <a:p>
            <a:pPr algn="l"/>
            <a:r>
              <a:rPr lang="en-US" sz="3600" b="1">
                <a:solidFill>
                  <a:srgbClr val="141414"/>
                </a:solidFill>
                <a:latin typeface="Arial"/>
              </a:rPr>
              <a:t>Clean data makes reporting traceable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127DC06-E3ED-47AA-A80C-6DC3AB8A23D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wrap="square" anchor="ctr"/>
          <a:lstStyle/>
          <a:p>
            <a:r>
              <a:rPr lang="en-ZA" sz="1600" b="1">
                <a:solidFill>
                  <a:srgbClr val="141414"/>
                </a:solidFill>
                <a:latin typeface="Arial"/>
              </a:rPr>
              <a:t>Data problems checked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6982E48-3FB5-4F2E-AE87-E5E0838657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wrap="square"/>
          <a:lstStyle/>
          <a:p>
            <a:pPr algn="l"/>
            <a:r>
              <a:rPr lang="en-ZA" sz="1400" b="0">
                <a:solidFill>
                  <a:srgbClr val="141414"/>
                </a:solidFill>
                <a:latin typeface="Arial"/>
              </a:rPr>
              <a:t>• Inconsistent city names (mashaad / mashad)</a:t>
            </a:r>
            <a:br>
              <a:rPr lang="en-ZA"/>
            </a:br>
            <a:r>
              <a:rPr lang="en-ZA" sz="1400" b="0">
                <a:solidFill>
                  <a:srgbClr val="141414"/>
                </a:solidFill>
                <a:latin typeface="Arial"/>
              </a:rPr>
              <a:t>• Mixed capitalisation</a:t>
            </a:r>
            <a:br>
              <a:rPr lang="en-ZA"/>
            </a:br>
            <a:r>
              <a:rPr lang="en-ZA" sz="1400" b="0">
                <a:solidFill>
                  <a:srgbClr val="141414"/>
                </a:solidFill>
                <a:latin typeface="Arial"/>
              </a:rPr>
              <a:t>• Missing values</a:t>
            </a:r>
            <a:br>
              <a:rPr lang="en-ZA"/>
            </a:br>
            <a:r>
              <a:rPr lang="en-ZA" sz="1400" b="0">
                <a:solidFill>
                  <a:srgbClr val="141414"/>
                </a:solidFill>
                <a:latin typeface="Arial"/>
              </a:rPr>
              <a:t>• Duplicate records</a:t>
            </a:r>
            <a:br>
              <a:rPr lang="en-ZA"/>
            </a:br>
            <a:r>
              <a:rPr lang="en-ZA" sz="1400" b="0">
                <a:solidFill>
                  <a:srgbClr val="141414"/>
                </a:solidFill>
                <a:latin typeface="Arial"/>
              </a:rPr>
              <a:t>• Incorrect or unrealistic values</a:t>
            </a:r>
            <a:br>
              <a:rPr lang="en-ZA"/>
            </a:br>
            <a:r>
              <a:rPr lang="en-ZA" sz="1400" b="0">
                <a:solidFill>
                  <a:srgbClr val="141414"/>
                </a:solidFill>
                <a:latin typeface="Arial"/>
              </a:rPr>
              <a:t>• Non-standard date fields</a:t>
            </a:r>
            <a:br>
              <a:rPr lang="en-ZA"/>
            </a:br>
            <a:r>
              <a:rPr lang="en-ZA" sz="1400" b="0">
                <a:solidFill>
                  <a:srgbClr val="141414"/>
                </a:solidFill>
                <a:latin typeface="Arial"/>
              </a:rPr>
              <a:t>• Invalid customer or product links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42BCCC6-6D52-4984-A92F-8B1A8A90321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wrap="square" anchor="ctr"/>
          <a:lstStyle/>
          <a:p>
            <a:r>
              <a:rPr lang="en-ZA" sz="1600" b="1">
                <a:solidFill>
                  <a:srgbClr val="141414"/>
                </a:solidFill>
                <a:latin typeface="Arial"/>
              </a:rPr>
              <a:t>How they were handled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5E2CA68-BFC9-485F-A53E-F4C27258EF0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wrap="square"/>
          <a:lstStyle/>
          <a:p>
            <a:pPr algn="l"/>
            <a:r>
              <a:rPr lang="en-US" sz="1400" b="0">
                <a:solidFill>
                  <a:srgbClr val="141414"/>
                </a:solidFill>
                <a:latin typeface="Arial"/>
              </a:rPr>
              <a:t>• Standardised inconsistent values</a:t>
            </a:r>
            <a:br>
              <a:rPr lang="en-US"/>
            </a:br>
            <a:r>
              <a:rPr lang="en-US" sz="1400" b="0">
                <a:solidFill>
                  <a:srgbClr val="141414"/>
                </a:solidFill>
                <a:latin typeface="Arial"/>
              </a:rPr>
              <a:t>• Investigated missing and duplicate records</a:t>
            </a:r>
            <a:br>
              <a:rPr lang="en-US"/>
            </a:br>
            <a:r>
              <a:rPr lang="en-US" sz="1400" b="0">
                <a:solidFill>
                  <a:srgbClr val="141414"/>
                </a:solidFill>
                <a:latin typeface="Arial"/>
              </a:rPr>
              <a:t>• Converted dates to a consistent format</a:t>
            </a:r>
            <a:br>
              <a:rPr lang="en-US"/>
            </a:br>
            <a:r>
              <a:rPr lang="en-US" sz="1400" b="0">
                <a:solidFill>
                  <a:srgbClr val="141414"/>
                </a:solidFill>
                <a:latin typeface="Arial"/>
              </a:rPr>
              <a:t>• Checked customer and product ID links</a:t>
            </a:r>
            <a:br>
              <a:rPr lang="en-US"/>
            </a:br>
            <a:r>
              <a:rPr lang="en-US" sz="1400" b="0">
                <a:solidFill>
                  <a:srgbClr val="141414"/>
                </a:solidFill>
                <a:latin typeface="Arial"/>
              </a:rPr>
              <a:t>• Combined cleaned records into one working dataset</a:t>
            </a:r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658368" y="5760720"/>
            <a:ext cx="108813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D7D31"/>
                </a:solidFill>
                <a:latin typeface="Arial"/>
              </a:rPr>
              <a:t>Final message  The reported figures and charts can be traced back to the cleaned underlying data.</a:t>
            </a:r>
          </a:p>
        </p:txBody>
      </p:sp>
    </p:spTree>
    <p:extLst>
      <p:ext uri="{BB962C8B-B14F-4D97-AF65-F5344CB8AC3E}">
        <p14:creationId xmlns:p14="http://schemas.microsoft.com/office/powerpoint/2010/main" val="3007378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eometric Presentation">
      <a:dk1>
        <a:sysClr val="windowText" lastClr="000000"/>
      </a:dk1>
      <a:lt1>
        <a:sysClr val="window" lastClr="FFFFFF"/>
      </a:lt1>
      <a:dk2>
        <a:srgbClr val="44546A"/>
      </a:dk2>
      <a:lt2>
        <a:srgbClr val="ACCBF9"/>
      </a:lt2>
      <a:accent1>
        <a:srgbClr val="5C83C4"/>
      </a:accent1>
      <a:accent2>
        <a:srgbClr val="2C599D"/>
      </a:accent2>
      <a:accent3>
        <a:srgbClr val="1A3B70"/>
      </a:accent3>
      <a:accent4>
        <a:srgbClr val="FA6F1A"/>
      </a:accent4>
      <a:accent5>
        <a:srgbClr val="11224E"/>
      </a:accent5>
      <a:accent6>
        <a:srgbClr val="9D90A0"/>
      </a:accent6>
      <a:hlink>
        <a:srgbClr val="9454C3"/>
      </a:hlink>
      <a:folHlink>
        <a:srgbClr val="3EBBF0"/>
      </a:folHlink>
    </a:clrScheme>
    <a:fontScheme name="Custom 147">
      <a:majorFont>
        <a:latin typeface="Corbe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16411253_LW_v2" id="{C590A786-F65F-42F6-9E48-12C78E3C86B3}" vid="{FEE92C9D-6350-4ECD-87A4-004D12BB2B1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Geometric presentation</Template>
  <TotalTime>32</TotalTime>
  <Words>452</Words>
  <Application>Microsoft Office PowerPoint</Application>
  <PresentationFormat>Widescreen</PresentationFormat>
  <Paragraphs>63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Wingdings</vt:lpstr>
      <vt:lpstr>Office Theme</vt:lpstr>
      <vt:lpstr>Shop Performance Analysis</vt:lpstr>
      <vt:lpstr>Executive Summary — Jan 2024–Jun 2026</vt:lpstr>
      <vt:lpstr>49,970 orders produced R3.49m</vt:lpstr>
      <vt:lpstr>Revenue seasonality guides planning</vt:lpstr>
      <vt:lpstr>Five products generated R1.46m</vt:lpstr>
      <vt:lpstr>City revenue data is still needed</vt:lpstr>
      <vt:lpstr>Segment revenue data is still needed</vt:lpstr>
      <vt:lpstr>Three actions unlock targeted growth</vt:lpstr>
      <vt:lpstr>Clean data makes reporting traceable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Hitekani Tredah Masingi</dc:creator>
  <cp:lastModifiedBy>Hitekani Tredah Masingi</cp:lastModifiedBy>
  <cp:revision>1</cp:revision>
  <dcterms:created xsi:type="dcterms:W3CDTF">2026-10-02T07:49:26Z</dcterms:created>
  <dcterms:modified xsi:type="dcterms:W3CDTF">2026-10-02T08:21:56Z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